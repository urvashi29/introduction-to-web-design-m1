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332" r:id="rId3"/>
    <p:sldId id="316" r:id="rId4"/>
    <p:sldId id="319" r:id="rId5"/>
    <p:sldId id="318" r:id="rId6"/>
    <p:sldId id="322" r:id="rId7"/>
    <p:sldId id="323" r:id="rId8"/>
    <p:sldId id="330" r:id="rId9"/>
    <p:sldId id="326" r:id="rId10"/>
    <p:sldId id="264" r:id="rId11"/>
    <p:sldId id="263" r:id="rId12"/>
  </p:sldIdLst>
  <p:sldSz cx="18288000" cy="10287000"/>
  <p:notesSz cx="6858000" cy="9144000"/>
  <p:embeddedFontLst>
    <p:embeddedFont>
      <p:font typeface="Montserrat" panose="000005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22" autoAdjust="0"/>
  </p:normalViewPr>
  <p:slideViewPr>
    <p:cSldViewPr>
      <p:cViewPr varScale="1">
        <p:scale>
          <a:sx n="42" d="100"/>
          <a:sy n="42" d="100"/>
        </p:scale>
        <p:origin x="592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03.07.2025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93CF290-EC8F-8F45-71B2-609A4767F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>
            <a:extLst>
              <a:ext uri="{FF2B5EF4-FFF2-40B4-BE49-F238E27FC236}">
                <a16:creationId xmlns:a16="http://schemas.microsoft.com/office/drawing/2014/main" id="{26539C52-594B-5D37-00D4-8E4F51E33B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>
            <a:extLst>
              <a:ext uri="{FF2B5EF4-FFF2-40B4-BE49-F238E27FC236}">
                <a16:creationId xmlns:a16="http://schemas.microsoft.com/office/drawing/2014/main" id="{D7CBBB48-AC37-26E3-1785-5F98C913FC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451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914400" lvl="0" indent="-685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828800" lvl="1" indent="-635000">
              <a:spcBef>
                <a:spcPts val="3200"/>
              </a:spcBef>
              <a:spcAft>
                <a:spcPts val="0"/>
              </a:spcAft>
              <a:buSzPts val="1400"/>
              <a:buChar char="○"/>
              <a:defRPr/>
            </a:lvl2pPr>
            <a:lvl3pPr marL="2743200" lvl="2" indent="-635000">
              <a:spcBef>
                <a:spcPts val="3200"/>
              </a:spcBef>
              <a:spcAft>
                <a:spcPts val="0"/>
              </a:spcAft>
              <a:buSzPts val="1400"/>
              <a:buChar char="■"/>
              <a:defRPr/>
            </a:lvl3pPr>
            <a:lvl4pPr marL="3657600" lvl="3" indent="-635000">
              <a:spcBef>
                <a:spcPts val="3200"/>
              </a:spcBef>
              <a:spcAft>
                <a:spcPts val="0"/>
              </a:spcAft>
              <a:buSzPts val="1400"/>
              <a:buChar char="●"/>
              <a:defRPr/>
            </a:lvl4pPr>
            <a:lvl5pPr marL="4572000" lvl="4" indent="-635000">
              <a:spcBef>
                <a:spcPts val="3200"/>
              </a:spcBef>
              <a:spcAft>
                <a:spcPts val="0"/>
              </a:spcAft>
              <a:buSzPts val="1400"/>
              <a:buChar char="○"/>
              <a:defRPr/>
            </a:lvl5pPr>
            <a:lvl6pPr marL="5486400" lvl="5" indent="-635000">
              <a:spcBef>
                <a:spcPts val="3200"/>
              </a:spcBef>
              <a:spcAft>
                <a:spcPts val="0"/>
              </a:spcAft>
              <a:buSzPts val="1400"/>
              <a:buChar char="■"/>
              <a:defRPr/>
            </a:lvl6pPr>
            <a:lvl7pPr marL="6400800" lvl="6" indent="-635000">
              <a:spcBef>
                <a:spcPts val="3200"/>
              </a:spcBef>
              <a:spcAft>
                <a:spcPts val="0"/>
              </a:spcAft>
              <a:buSzPts val="1400"/>
              <a:buChar char="●"/>
              <a:defRPr/>
            </a:lvl7pPr>
            <a:lvl8pPr marL="7315200" lvl="7" indent="-635000">
              <a:spcBef>
                <a:spcPts val="3200"/>
              </a:spcBef>
              <a:spcAft>
                <a:spcPts val="0"/>
              </a:spcAft>
              <a:buSzPts val="1400"/>
              <a:buChar char="○"/>
              <a:defRPr/>
            </a:lvl8pPr>
            <a:lvl9pPr marL="8229600" lvl="8" indent="-635000">
              <a:spcBef>
                <a:spcPts val="3200"/>
              </a:spcBef>
              <a:spcAft>
                <a:spcPts val="3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5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130" name="Google Shape;130;p30"/>
          <p:cNvSpPr txBox="1"/>
          <p:nvPr/>
        </p:nvSpPr>
        <p:spPr>
          <a:xfrm>
            <a:off x="893800" y="2376401"/>
            <a:ext cx="8762400" cy="169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355600" indent="-355600">
              <a:lnSpc>
                <a:spcPct val="90000"/>
              </a:lnSpc>
            </a:pPr>
            <a:r>
              <a:rPr lang="en-GB" sz="9600" b="1" dirty="0">
                <a:solidFill>
                  <a:schemeClr val="bg1"/>
                </a:solidFill>
              </a:rPr>
              <a:t>Welcome to </a:t>
            </a:r>
            <a:endParaRPr sz="9600" b="1" dirty="0">
              <a:solidFill>
                <a:schemeClr val="bg1"/>
              </a:solidFill>
            </a:endParaRPr>
          </a:p>
        </p:txBody>
      </p:sp>
      <p:sp>
        <p:nvSpPr>
          <p:cNvPr id="132" name="Google Shape;132;p30"/>
          <p:cNvSpPr txBox="1"/>
          <p:nvPr/>
        </p:nvSpPr>
        <p:spPr>
          <a:xfrm>
            <a:off x="1033950" y="7307850"/>
            <a:ext cx="13090800" cy="89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GB" sz="3400" b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3400" b="1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1051551" y="4075601"/>
            <a:ext cx="7518054" cy="14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15286904" y="424750"/>
            <a:ext cx="2570752" cy="5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13019684" y="8403660"/>
            <a:ext cx="4218744" cy="89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n-GB" sz="3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340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3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3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5B76CDC5-9CDD-05FE-96F3-76006207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1;p30">
            <a:extLst>
              <a:ext uri="{FF2B5EF4-FFF2-40B4-BE49-F238E27FC236}">
                <a16:creationId xmlns:a16="http://schemas.microsoft.com/office/drawing/2014/main" id="{9FFDB20C-7688-C033-7378-EE8BC6552519}"/>
              </a:ext>
            </a:extLst>
          </p:cNvPr>
          <p:cNvSpPr/>
          <p:nvPr/>
        </p:nvSpPr>
        <p:spPr>
          <a:xfrm>
            <a:off x="0" y="0"/>
            <a:ext cx="184404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3" name="Google Shape;139;p31">
            <a:extLst>
              <a:ext uri="{FF2B5EF4-FFF2-40B4-BE49-F238E27FC236}">
                <a16:creationId xmlns:a16="http://schemas.microsoft.com/office/drawing/2014/main" id="{2AF9BC38-0D08-A305-2E6A-95813B34F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800" y="951391"/>
            <a:ext cx="15347400" cy="192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50" tIns="68550" rIns="137150" bIns="68550" rtlCol="0" anchor="ctr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lt1"/>
              </a:buClr>
              <a:buSzPts val="5400"/>
              <a:buNone/>
            </a:pPr>
            <a:r>
              <a:rPr lang="en-GB" sz="7200" b="1" dirty="0">
                <a:solidFill>
                  <a:srgbClr val="FF0000"/>
                </a:solidFill>
              </a:rPr>
              <a:t>Session Agenda</a:t>
            </a:r>
            <a:endParaRPr sz="7200" b="1" dirty="0">
              <a:solidFill>
                <a:srgbClr val="FF0000"/>
              </a:solidFill>
            </a:endParaRPr>
          </a:p>
        </p:txBody>
      </p:sp>
      <p:sp>
        <p:nvSpPr>
          <p:cNvPr id="4" name="Google Shape;140;p31">
            <a:extLst>
              <a:ext uri="{FF2B5EF4-FFF2-40B4-BE49-F238E27FC236}">
                <a16:creationId xmlns:a16="http://schemas.microsoft.com/office/drawing/2014/main" id="{8E42115B-02C9-FF66-C257-B44BA692F235}"/>
              </a:ext>
            </a:extLst>
          </p:cNvPr>
          <p:cNvSpPr txBox="1"/>
          <p:nvPr/>
        </p:nvSpPr>
        <p:spPr>
          <a:xfrm>
            <a:off x="1470300" y="2678550"/>
            <a:ext cx="11110800" cy="313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J</a:t>
            </a:r>
            <a:r>
              <a:rPr lang="en-IN" sz="3600" b="1" dirty="0" err="1">
                <a:solidFill>
                  <a:schemeClr val="bg1"/>
                </a:solidFill>
              </a:rPr>
              <a:t>avaScript</a:t>
            </a:r>
            <a:r>
              <a:rPr lang="en-IN" sz="3600" b="1" dirty="0">
                <a:solidFill>
                  <a:schemeClr val="bg1"/>
                </a:solidFill>
              </a:rPr>
              <a:t> - Introduction, Language basics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JavaScript –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J</a:t>
            </a:r>
            <a:r>
              <a:rPr lang="en-IN" sz="3600" b="1" dirty="0" err="1">
                <a:solidFill>
                  <a:schemeClr val="bg1"/>
                </a:solidFill>
              </a:rPr>
              <a:t>avaScript</a:t>
            </a:r>
            <a:r>
              <a:rPr lang="en-IN" sz="3600" b="1" dirty="0">
                <a:solidFill>
                  <a:schemeClr val="bg1"/>
                </a:solidFill>
              </a:rPr>
              <a:t> - </a:t>
            </a:r>
            <a:r>
              <a:rPr lang="en-IN" sz="3600" b="1">
                <a:solidFill>
                  <a:schemeClr val="bg1"/>
                </a:solidFill>
              </a:rPr>
              <a:t>Data Types</a:t>
            </a:r>
            <a:br>
              <a:rPr lang="en-GB" sz="3600" b="1" dirty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br>
              <a:rPr lang="en-GB" sz="3600" b="1" dirty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endParaRPr sz="3600" b="1" dirty="0">
              <a:solidFill>
                <a:schemeClr val="bg1"/>
              </a:solidFill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Google Shape;141;p31">
            <a:extLst>
              <a:ext uri="{FF2B5EF4-FFF2-40B4-BE49-F238E27FC236}">
                <a16:creationId xmlns:a16="http://schemas.microsoft.com/office/drawing/2014/main" id="{F9E1D5AD-75A2-84C5-2A66-E6DB7D552B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15286904" y="424750"/>
            <a:ext cx="2570752" cy="50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7497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6140876" cy="54571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887555"/>
            <a:ext cx="61564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/>
              <a:t>WHAT IS JAVASCRIPT?</a:t>
            </a:r>
            <a:endParaRPr lang="en-IN" sz="4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F017D9-C1F2-4E9C-8C87-CE6E738E1729}"/>
              </a:ext>
            </a:extLst>
          </p:cNvPr>
          <p:cNvSpPr txBox="1"/>
          <p:nvPr/>
        </p:nvSpPr>
        <p:spPr>
          <a:xfrm>
            <a:off x="1028700" y="2088879"/>
            <a:ext cx="1682496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It is an interactive glue between html and CSS. J</a:t>
            </a:r>
            <a:r>
              <a:rPr lang="en-US" sz="3600" dirty="0" err="1">
                <a:solidFill>
                  <a:srgbClr val="000000"/>
                </a:solidFill>
              </a:rPr>
              <a:t>avaScript</a:t>
            </a:r>
            <a:r>
              <a:rPr lang="en-US" sz="3600" dirty="0">
                <a:solidFill>
                  <a:srgbClr val="000000"/>
                </a:solidFill>
              </a:rPr>
              <a:t> is the programming language of the Web.</a:t>
            </a:r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It is used to make your website dynamic and interactive.</a:t>
            </a:r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It is the only programming language  that a browser can understand. All advance tech like </a:t>
            </a:r>
            <a:r>
              <a:rPr lang="en-IN" sz="3600" dirty="0" err="1"/>
              <a:t>Reactjs</a:t>
            </a:r>
            <a:r>
              <a:rPr lang="en-IN" sz="3600" dirty="0"/>
              <a:t>, </a:t>
            </a:r>
            <a:r>
              <a:rPr lang="en-IN" sz="3600" dirty="0" err="1"/>
              <a:t>Expressjs</a:t>
            </a:r>
            <a:r>
              <a:rPr lang="en-IN" sz="3600" dirty="0"/>
              <a:t>, Nodejs written over the top of </a:t>
            </a:r>
            <a:r>
              <a:rPr lang="en-IN" sz="3600" dirty="0" err="1"/>
              <a:t>js</a:t>
            </a:r>
            <a:r>
              <a:rPr lang="en-IN" sz="3600" dirty="0"/>
              <a:t>.</a:t>
            </a:r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0000"/>
                </a:solidFill>
              </a:rPr>
              <a:t>JavaScript Can Change HTML Content, HTML Attribute Values, Elements, HTML Styles.</a:t>
            </a:r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>
              <a:solidFill>
                <a:srgbClr val="000000"/>
              </a:solidFill>
            </a:endParaRPr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Without </a:t>
            </a:r>
            <a:r>
              <a:rPr lang="en-IN" sz="3600" dirty="0" err="1"/>
              <a:t>javaScript</a:t>
            </a:r>
            <a:r>
              <a:rPr lang="en-IN" sz="3600" dirty="0"/>
              <a:t> there would be no games, no dynamic html forms, no interactive maps, no Gmail, no </a:t>
            </a:r>
            <a:r>
              <a:rPr lang="en-IN" sz="3600" dirty="0" err="1"/>
              <a:t>Youtube</a:t>
            </a:r>
            <a:r>
              <a:rPr lang="en-IN" sz="3600" dirty="0"/>
              <a:t>, no Netflix.</a:t>
            </a:r>
            <a:endParaRPr lang="en-IN" sz="3600" dirty="0">
              <a:solidFill>
                <a:srgbClr val="000000"/>
              </a:solidFill>
            </a:endParaRPr>
          </a:p>
          <a:p>
            <a:pPr marL="685800" indent="-68580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8137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6140876" cy="54571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887555"/>
            <a:ext cx="61564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/>
              <a:t>HISTORY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458404-DAEB-5F16-605C-82F7D06F324B}"/>
              </a:ext>
            </a:extLst>
          </p:cNvPr>
          <p:cNvSpPr txBox="1"/>
          <p:nvPr/>
        </p:nvSpPr>
        <p:spPr>
          <a:xfrm>
            <a:off x="762001" y="1972486"/>
            <a:ext cx="16109927" cy="5823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It was created by Brendan </a:t>
            </a:r>
            <a:r>
              <a:rPr lang="en-IN" sz="3600" dirty="0" err="1"/>
              <a:t>Eich</a:t>
            </a:r>
            <a:r>
              <a:rPr lang="en-IN" sz="3600" dirty="0"/>
              <a:t> In 1995.  </a:t>
            </a: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noProof="1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noProof="1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noProof="1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noProof="1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3600" noProof="1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3600" noProof="1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3600" noProof="1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Towards the end of 1996, It was standardized by </a:t>
            </a:r>
            <a:r>
              <a:rPr lang="en-IN" sz="3600" dirty="0" err="1"/>
              <a:t>Ecma</a:t>
            </a:r>
            <a:r>
              <a:rPr lang="en-IN" sz="3600" dirty="0"/>
              <a:t> as the </a:t>
            </a:r>
            <a:r>
              <a:rPr lang="en-IN" sz="3600" dirty="0" err="1"/>
              <a:t>Ecmascript</a:t>
            </a:r>
            <a:r>
              <a:rPr lang="en-IN" sz="3600" dirty="0"/>
              <a:t>.</a:t>
            </a:r>
            <a:endParaRPr lang="en-US" sz="3600" noProof="1"/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Java or </a:t>
            </a:r>
            <a:r>
              <a:rPr lang="en-IN" sz="3600" dirty="0" err="1"/>
              <a:t>Javascript</a:t>
            </a:r>
            <a:r>
              <a:rPr lang="en-IN" sz="3600" dirty="0"/>
              <a:t>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19672F-D9FB-4765-7E4D-187569E3C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525" y="3130553"/>
            <a:ext cx="3930381" cy="295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47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6140876" cy="54571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E2A4A-1ECF-4912-7993-C4C3EE0E088A}"/>
              </a:ext>
            </a:extLst>
          </p:cNvPr>
          <p:cNvSpPr txBox="1"/>
          <p:nvPr/>
        </p:nvSpPr>
        <p:spPr>
          <a:xfrm>
            <a:off x="928112" y="2242994"/>
            <a:ext cx="161099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 What is Js Runtime and Engine?</a:t>
            </a: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3600" dirty="0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JavaScript is already running in your browser on your computer, on your tablet, and on your smart-phone.</a:t>
            </a: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3600" dirty="0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  Types of Js Runtime engine.</a:t>
            </a:r>
          </a:p>
          <a:p>
            <a:pPr>
              <a:buClr>
                <a:schemeClr val="tx1"/>
              </a:buClr>
            </a:pPr>
            <a:r>
              <a:rPr lang="en-US" sz="3600" dirty="0"/>
              <a:t>		e.g. Chrome: V8 engine </a:t>
            </a:r>
          </a:p>
          <a:p>
            <a:pPr>
              <a:buClr>
                <a:schemeClr val="tx1"/>
              </a:buClr>
            </a:pPr>
            <a:r>
              <a:rPr lang="en-US" sz="3600" dirty="0"/>
              <a:t>	                     Mozilla: </a:t>
            </a:r>
            <a:r>
              <a:rPr lang="en-US" sz="3600" dirty="0" err="1"/>
              <a:t>SpiderMonkey</a:t>
            </a:r>
            <a:endParaRPr lang="en-US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887555"/>
            <a:ext cx="61564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IN" sz="4200" b="1" dirty="0"/>
              <a:t>ENGINE &amp; RUNTINE</a:t>
            </a: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195590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6140876" cy="54571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887555"/>
            <a:ext cx="61564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/>
              <a:t>VARIABLES</a:t>
            </a:r>
            <a:endParaRPr lang="en-IN" sz="42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D2A061-DAFA-49D7-4DA7-180F7A4C6DE5}"/>
              </a:ext>
            </a:extLst>
          </p:cNvPr>
          <p:cNvSpPr txBox="1"/>
          <p:nvPr/>
        </p:nvSpPr>
        <p:spPr>
          <a:xfrm>
            <a:off x="620608" y="1619683"/>
            <a:ext cx="16109927" cy="3330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JavaScript variables are containers for storing data values.</a:t>
            </a:r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0000"/>
                </a:solidFill>
              </a:rPr>
              <a:t>JavaScript uses the</a:t>
            </a:r>
            <a:r>
              <a:rPr lang="en-US" sz="3600" dirty="0">
                <a:solidFill>
                  <a:srgbClr val="000000"/>
                </a:solidFill>
              </a:rPr>
              <a:t> var </a:t>
            </a:r>
            <a:r>
              <a:rPr lang="en-IN" sz="3600" dirty="0">
                <a:solidFill>
                  <a:srgbClr val="000000"/>
                </a:solidFill>
              </a:rPr>
              <a:t>keyword to declare variables</a:t>
            </a:r>
            <a:endParaRPr lang="en-US" sz="3600" dirty="0">
              <a:solidFill>
                <a:srgbClr val="000000"/>
              </a:solidFill>
            </a:endParaRPr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An equal sign is used to assign values to variables.</a:t>
            </a:r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All JavaScript variables must be identified with unique names.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2465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6140876" cy="54571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887555"/>
            <a:ext cx="61564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/>
              <a:t>NAMING CONVENTION</a:t>
            </a:r>
          </a:p>
          <a:p>
            <a:endParaRPr lang="en-IN" sz="420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D0687E-0F46-6C44-42E4-6981B9EF1920}"/>
              </a:ext>
            </a:extLst>
          </p:cNvPr>
          <p:cNvSpPr txBox="1"/>
          <p:nvPr/>
        </p:nvSpPr>
        <p:spPr>
          <a:xfrm>
            <a:off x="762001" y="1591870"/>
            <a:ext cx="16109927" cy="831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It is a Case Sensitive Language.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3600" dirty="0"/>
              <a:t>	e.g. var </a:t>
            </a:r>
            <a:r>
              <a:rPr lang="en-IN" sz="3600" dirty="0" err="1"/>
              <a:t>firstName</a:t>
            </a:r>
            <a:r>
              <a:rPr lang="en-IN" sz="3600" dirty="0"/>
              <a:t>;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3600" dirty="0"/>
              <a:t>	       var  FirstName;</a:t>
            </a:r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Use camel case for naming variable  e.g. </a:t>
            </a:r>
            <a:r>
              <a:rPr lang="en-US" sz="3600" dirty="0" err="1"/>
              <a:t>firstName</a:t>
            </a:r>
            <a:r>
              <a:rPr lang="en-US" sz="3600" dirty="0"/>
              <a:t>.</a:t>
            </a:r>
            <a:endParaRPr lang="en-IN" sz="3600" dirty="0"/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Names Can Contain Letters, Digits, Underscores, Dollar Signs.</a:t>
            </a:r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You Can Declare Variable Name Starting With _ And $.</a:t>
            </a:r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Reserved Key Words Can’t Be Used As Variable Name.</a:t>
            </a:r>
          </a:p>
          <a:p>
            <a:pPr marL="514350" indent="-5143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/>
              <a:t>Include space around operator.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3600" dirty="0"/>
              <a:t>	 e.g. var x = “hello”;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3600" dirty="0"/>
              <a:t>	         var x=“hello” ;</a:t>
            </a:r>
          </a:p>
        </p:txBody>
      </p:sp>
    </p:spTree>
    <p:extLst>
      <p:ext uri="{BB962C8B-B14F-4D97-AF65-F5344CB8AC3E}">
        <p14:creationId xmlns:p14="http://schemas.microsoft.com/office/powerpoint/2010/main" val="21999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6140876" cy="54571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887555"/>
            <a:ext cx="8343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>
                <a:solidFill>
                  <a:schemeClr val="tx1"/>
                </a:solidFill>
              </a:rPr>
              <a:t>Control Flow &amp; Folder Structure</a:t>
            </a:r>
          </a:p>
          <a:p>
            <a:endParaRPr lang="en-IN" sz="42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0965A5-4A79-873C-0C7C-D02A5031DDEA}"/>
              </a:ext>
            </a:extLst>
          </p:cNvPr>
          <p:cNvSpPr txBox="1"/>
          <p:nvPr/>
        </p:nvSpPr>
        <p:spPr>
          <a:xfrm>
            <a:off x="762004" y="1799909"/>
            <a:ext cx="161099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37" indent="-514337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JavaScript is a synchronous and a single threaded Programming and scripting language.</a:t>
            </a:r>
            <a:endParaRPr lang="en-US" sz="3600" dirty="0"/>
          </a:p>
          <a:p>
            <a:pPr marL="514337" indent="-514337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It is a case sensitive language.</a:t>
            </a:r>
          </a:p>
          <a:p>
            <a:pPr marL="514337" indent="-514337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202124"/>
                </a:solidFill>
              </a:rPr>
              <a:t>The control flow is the order in which the computer executes statements in a script.</a:t>
            </a:r>
          </a:p>
          <a:p>
            <a:pPr marL="514337" indent="-514337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966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887555"/>
            <a:ext cx="1139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/>
              <a:t>J</a:t>
            </a:r>
            <a:r>
              <a:rPr lang="en-IN" sz="4200" b="1" dirty="0"/>
              <a:t>AVASCRIPT - DATA TYPES</a:t>
            </a:r>
          </a:p>
          <a:p>
            <a:endParaRPr lang="en-IN" sz="4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880138-CE0B-4800-2422-21A2511B7CE9}"/>
              </a:ext>
            </a:extLst>
          </p:cNvPr>
          <p:cNvSpPr txBox="1"/>
          <p:nvPr/>
        </p:nvSpPr>
        <p:spPr>
          <a:xfrm>
            <a:off x="1089036" y="2095500"/>
            <a:ext cx="161099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 JavaScript variables can hold many data types: numbers, strings, objects, etc.</a:t>
            </a: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3600" dirty="0">
              <a:solidFill>
                <a:srgbClr val="000000"/>
              </a:solidFill>
            </a:endParaRP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rgbClr val="000000"/>
                </a:solidFill>
              </a:rPr>
              <a:t> Js datatypes are of two types:</a:t>
            </a:r>
          </a:p>
          <a:p>
            <a:pPr lvl="0">
              <a:buClr>
                <a:schemeClr val="tx1"/>
              </a:buClr>
            </a:pPr>
            <a:r>
              <a:rPr lang="en-US" sz="3600" dirty="0">
                <a:solidFill>
                  <a:srgbClr val="00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</a:rPr>
              <a:t>Primitive                     Non-Primitive</a:t>
            </a:r>
            <a:br>
              <a:rPr lang="en-US" sz="3600" dirty="0"/>
            </a:br>
            <a:r>
              <a:rPr lang="en-US" sz="3600" dirty="0"/>
              <a:t>	String                            Function</a:t>
            </a:r>
          </a:p>
          <a:p>
            <a:pPr lvl="0">
              <a:buClr>
                <a:schemeClr val="tx1"/>
              </a:buClr>
            </a:pPr>
            <a:r>
              <a:rPr lang="en-US" sz="3600" dirty="0"/>
              <a:t>	Numbers                      Objects and Arrays</a:t>
            </a:r>
          </a:p>
          <a:p>
            <a:pPr lvl="0">
              <a:buClr>
                <a:schemeClr val="tx1"/>
              </a:buClr>
            </a:pPr>
            <a:r>
              <a:rPr lang="en-US" sz="3600" dirty="0"/>
              <a:t>	Boolean</a:t>
            </a:r>
          </a:p>
          <a:p>
            <a:pPr lvl="0">
              <a:buClr>
                <a:schemeClr val="tx1"/>
              </a:buClr>
            </a:pPr>
            <a:r>
              <a:rPr lang="en-US" sz="3600" dirty="0"/>
              <a:t>	Undefined</a:t>
            </a:r>
          </a:p>
          <a:p>
            <a:pPr lvl="0">
              <a:buClr>
                <a:schemeClr val="tx1"/>
              </a:buClr>
            </a:pPr>
            <a:r>
              <a:rPr lang="en-US" sz="3600" dirty="0"/>
              <a:t>	null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34371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30">
            <a:extLst>
              <a:ext uri="{FF2B5EF4-FFF2-40B4-BE49-F238E27FC236}">
                <a16:creationId xmlns:a16="http://schemas.microsoft.com/office/drawing/2014/main" id="{386C79ED-E84A-CB59-D59D-781B8F4FC5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205" name="Google Shape;205;p38"/>
          <p:cNvSpPr txBox="1"/>
          <p:nvPr/>
        </p:nvSpPr>
        <p:spPr>
          <a:xfrm>
            <a:off x="893800" y="3551400"/>
            <a:ext cx="8762400" cy="169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355600" indent="-355600">
              <a:lnSpc>
                <a:spcPct val="90000"/>
              </a:lnSpc>
            </a:pPr>
            <a:r>
              <a:rPr lang="en-GB" sz="9600" b="1">
                <a:solidFill>
                  <a:srgbClr val="FFFFFF"/>
                </a:solidFill>
              </a:rPr>
              <a:t>Q &amp; </a:t>
            </a:r>
            <a:r>
              <a:rPr lang="en-GB" sz="9600" b="1">
                <a:solidFill>
                  <a:srgbClr val="F00037"/>
                </a:solidFill>
              </a:rPr>
              <a:t>A</a:t>
            </a:r>
            <a:endParaRPr sz="96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16975950" y="105150"/>
            <a:ext cx="1092000" cy="8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13663090" y="8710250"/>
            <a:ext cx="4194560" cy="8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30">
            <a:extLst>
              <a:ext uri="{FF2B5EF4-FFF2-40B4-BE49-F238E27FC236}">
                <a16:creationId xmlns:a16="http://schemas.microsoft.com/office/drawing/2014/main" id="{C861F3F1-8C1B-5CAB-CBE0-0D696F2C9F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198" name="Google Shape;198;p37"/>
          <p:cNvSpPr txBox="1"/>
          <p:nvPr/>
        </p:nvSpPr>
        <p:spPr>
          <a:xfrm>
            <a:off x="893800" y="3551401"/>
            <a:ext cx="8762400" cy="169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355600" indent="-355600">
              <a:lnSpc>
                <a:spcPct val="90000"/>
              </a:lnSpc>
            </a:pPr>
            <a:r>
              <a:rPr lang="en-GB" sz="9600" b="1">
                <a:solidFill>
                  <a:schemeClr val="bg1"/>
                </a:solidFill>
              </a:rPr>
              <a:t>Thank You</a:t>
            </a:r>
            <a:endParaRPr sz="9600" b="1">
              <a:solidFill>
                <a:schemeClr val="bg1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16975950" y="105150"/>
            <a:ext cx="1092000" cy="8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>
              <a:solidFill>
                <a:schemeClr val="bg1"/>
              </a:solidFill>
            </a:endParaRPr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13663090" y="8710250"/>
            <a:ext cx="4194560" cy="8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442</Words>
  <Application>Microsoft Office PowerPoint</Application>
  <PresentationFormat>Custom</PresentationFormat>
  <Paragraphs>67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Montserrat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SLC PPT - Content</dc:title>
  <cp:lastModifiedBy>urvashi singla</cp:lastModifiedBy>
  <cp:revision>64</cp:revision>
  <dcterms:created xsi:type="dcterms:W3CDTF">2006-08-16T00:00:00Z</dcterms:created>
  <dcterms:modified xsi:type="dcterms:W3CDTF">2025-07-03T16:03:47Z</dcterms:modified>
  <dc:identifier>DAFBHbFhJSU</dc:identifier>
</cp:coreProperties>
</file>