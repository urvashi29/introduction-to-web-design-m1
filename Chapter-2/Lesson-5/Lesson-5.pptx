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15"/>
  </p:notesMasterIdLst>
  <p:sldIdLst>
    <p:sldId id="256" r:id="rId3"/>
    <p:sldId id="257" r:id="rId4"/>
    <p:sldId id="328" r:id="rId5"/>
    <p:sldId id="334" r:id="rId6"/>
    <p:sldId id="336" r:id="rId7"/>
    <p:sldId id="320" r:id="rId8"/>
    <p:sldId id="316" r:id="rId9"/>
    <p:sldId id="331" r:id="rId10"/>
    <p:sldId id="318" r:id="rId11"/>
    <p:sldId id="329" r:id="rId12"/>
    <p:sldId id="264" r:id="rId13"/>
    <p:sldId id="263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7273470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Text, Font, Specificity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Background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Specificity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Display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Flex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Position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Animation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38283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Text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82760A-4AC5-C98A-5B52-50077776F429}"/>
              </a:ext>
            </a:extLst>
          </p:cNvPr>
          <p:cNvSpPr txBox="1"/>
          <p:nvPr/>
        </p:nvSpPr>
        <p:spPr>
          <a:xfrm>
            <a:off x="391388" y="945954"/>
            <a:ext cx="82904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CSS has a lot of properties for formatting text.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color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text-alignment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vertical-alignment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text-decoration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text-transform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text-</a:t>
            </a:r>
            <a:r>
              <a:rPr lang="en-US" sz="1800" dirty="0" err="1">
                <a:solidFill>
                  <a:schemeClr val="tx1"/>
                </a:solidFill>
              </a:rPr>
              <a:t>identation</a:t>
            </a:r>
            <a:endParaRPr lang="en-US" sz="1800" dirty="0">
              <a:solidFill>
                <a:schemeClr val="tx1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95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514350" y="613692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Font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E069F8-F016-0F73-4F54-30B9DB8E9055}"/>
              </a:ext>
            </a:extLst>
          </p:cNvPr>
          <p:cNvSpPr txBox="1"/>
          <p:nvPr/>
        </p:nvSpPr>
        <p:spPr>
          <a:xfrm>
            <a:off x="391388" y="945954"/>
            <a:ext cx="82904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Choosing the right font has a huge impact on how the readers experience a website.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The right font can create a strong identity for your brand.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Using a font that is easy to read is important. The font adds value to your text. It is also important to choose the correct color and text size for the font.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Font-family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Font style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Font-weight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47190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27389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Background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70983-911B-B2BF-9A44-BF52C1DD14AE}"/>
              </a:ext>
            </a:extLst>
          </p:cNvPr>
          <p:cNvSpPr txBox="1"/>
          <p:nvPr/>
        </p:nvSpPr>
        <p:spPr>
          <a:xfrm>
            <a:off x="572091" y="1099791"/>
            <a:ext cx="8465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The CSS background properties are used to add background effects for elements.</a:t>
            </a:r>
          </a:p>
          <a:p>
            <a:pPr algn="l"/>
            <a:r>
              <a:rPr lang="en-US" sz="1800" dirty="0"/>
              <a:t>Properties to Style Background:</a:t>
            </a:r>
          </a:p>
          <a:p>
            <a:pPr algn="l"/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    background-color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background-image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background-repeat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background-attachment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background-position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 (shorthand property)</a:t>
            </a:r>
          </a:p>
          <a:p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67015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27389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Background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A70983-911B-B2BF-9A44-BF52C1DD14AE}"/>
              </a:ext>
            </a:extLst>
          </p:cNvPr>
          <p:cNvSpPr txBox="1"/>
          <p:nvPr/>
        </p:nvSpPr>
        <p:spPr>
          <a:xfrm>
            <a:off x="572091" y="1099791"/>
            <a:ext cx="84658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The CSS background properties are used to add background effects for elements.</a:t>
            </a:r>
          </a:p>
          <a:p>
            <a:pPr algn="l"/>
            <a:r>
              <a:rPr lang="en-US" sz="1800" dirty="0"/>
              <a:t>Properties to Style Background:</a:t>
            </a:r>
          </a:p>
          <a:p>
            <a:pPr algn="l"/>
            <a:endParaRPr lang="en-US" sz="18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    background-color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background-image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background-repeat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background-attachment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background-position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800" dirty="0"/>
              <a:t>    background (shorthand property)</a:t>
            </a:r>
          </a:p>
          <a:p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47183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C0AE40-F514-F32F-AF15-2AE30C485D0A}"/>
              </a:ext>
            </a:extLst>
          </p:cNvPr>
          <p:cNvSpPr txBox="1"/>
          <p:nvPr/>
        </p:nvSpPr>
        <p:spPr>
          <a:xfrm>
            <a:off x="448816" y="610240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Combinators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AB7661-A53B-27B5-4708-E92A0F3138A3}"/>
              </a:ext>
            </a:extLst>
          </p:cNvPr>
          <p:cNvSpPr txBox="1"/>
          <p:nvPr/>
        </p:nvSpPr>
        <p:spPr>
          <a:xfrm>
            <a:off x="514350" y="1065179"/>
            <a:ext cx="82904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A combinator is something that explains the relationship between the selectors.</a:t>
            </a:r>
          </a:p>
          <a:p>
            <a:pPr algn="l"/>
            <a:r>
              <a:rPr lang="en-US" sz="1800" dirty="0"/>
              <a:t>A CSS selector can contain more than one simple selector. Between the simple selectors, we can include a combinator.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There are four different combinators in CSS: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 descendant selector (space)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 child selector (&gt;)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 adjacent sibling selector (+)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/>
              <a:t> general sibling selector (~)</a:t>
            </a:r>
          </a:p>
          <a:p>
            <a:pPr algn="just"/>
            <a:r>
              <a:rPr lang="en-IN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9778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448816" y="612837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Specificity</a:t>
            </a:r>
            <a:endParaRPr lang="en-IN" sz="21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AD5D-C488-BB63-547C-993B3BE684E9}"/>
              </a:ext>
            </a:extLst>
          </p:cNvPr>
          <p:cNvSpPr txBox="1"/>
          <p:nvPr/>
        </p:nvSpPr>
        <p:spPr>
          <a:xfrm>
            <a:off x="488315" y="1055256"/>
            <a:ext cx="84671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If there are two or more conflicting CSS rules that point to the same element, the browser follows some rules to determine which one is most specific and therefore wins out.</a:t>
            </a:r>
          </a:p>
          <a:p>
            <a:pPr algn="l"/>
            <a:r>
              <a:rPr lang="en-US" sz="1800" dirty="0"/>
              <a:t>Think of specificity as a score/rank that determines which style declarations are ultimately applied to an element.</a:t>
            </a:r>
          </a:p>
          <a:p>
            <a:pPr algn="l"/>
            <a:r>
              <a:rPr lang="en-US" sz="1800" dirty="0"/>
              <a:t>The universal selector (*) has low specificity, while ID selectors are highly specific! </a:t>
            </a:r>
          </a:p>
          <a:p>
            <a:pPr algn="l"/>
            <a:endParaRPr lang="en-US" sz="1800" dirty="0"/>
          </a:p>
          <a:p>
            <a:pPr algn="l"/>
            <a:r>
              <a:rPr lang="en-US" sz="1800" b="1" dirty="0"/>
              <a:t>Order of specificity</a:t>
            </a:r>
          </a:p>
          <a:p>
            <a:pPr algn="l"/>
            <a:r>
              <a:rPr lang="en-US" sz="1800" dirty="0"/>
              <a:t>Inline styles </a:t>
            </a:r>
          </a:p>
          <a:p>
            <a:pPr algn="l"/>
            <a:r>
              <a:rPr lang="en-US" sz="1800" dirty="0"/>
              <a:t>IDs </a:t>
            </a:r>
          </a:p>
          <a:p>
            <a:pPr algn="l"/>
            <a:r>
              <a:rPr lang="en-US" sz="1800" dirty="0"/>
              <a:t>Classes, attributes and pseudo-classes</a:t>
            </a:r>
          </a:p>
          <a:p>
            <a:pPr algn="l"/>
            <a:r>
              <a:rPr lang="en-US" sz="1800" dirty="0"/>
              <a:t>Elements and pseudo-elements </a:t>
            </a:r>
          </a:p>
          <a:p>
            <a:pPr algn="l"/>
            <a:r>
              <a:rPr lang="en-US" sz="1800" dirty="0"/>
              <a:t>Universal </a:t>
            </a:r>
          </a:p>
        </p:txBody>
      </p:sp>
    </p:spTree>
    <p:extLst>
      <p:ext uri="{BB962C8B-B14F-4D97-AF65-F5344CB8AC3E}">
        <p14:creationId xmlns:p14="http://schemas.microsoft.com/office/powerpoint/2010/main" val="149148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50BC980-DCB5-2482-6BF6-534500990216}"/>
              </a:ext>
            </a:extLst>
          </p:cNvPr>
          <p:cNvSpPr txBox="1"/>
          <p:nvPr/>
        </p:nvSpPr>
        <p:spPr>
          <a:xfrm>
            <a:off x="518066" y="487603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100" b="1" dirty="0"/>
              <a:t>Flex</a:t>
            </a:r>
            <a:endParaRPr lang="en-IN" sz="21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ABDD47-3765-56BF-A96C-85F1A60FBBF9}"/>
              </a:ext>
            </a:extLst>
          </p:cNvPr>
          <p:cNvSpPr txBox="1"/>
          <p:nvPr/>
        </p:nvSpPr>
        <p:spPr>
          <a:xfrm>
            <a:off x="505966" y="954419"/>
            <a:ext cx="8619519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dirty="0"/>
              <a:t>Before the Flex Layout module, there were four layout modes: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Block, for sections in a webpage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Inline, for text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Table, for two-dimensional table data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Positioned, for explicit position of an element</a:t>
            </a:r>
          </a:p>
          <a:p>
            <a:pPr algn="l">
              <a:lnSpc>
                <a:spcPct val="150000"/>
              </a:lnSpc>
            </a:pPr>
            <a:r>
              <a:rPr lang="en-US" sz="1800" dirty="0"/>
              <a:t>The Flexible Box Layout Module, makes it easier to design flexible responsive layout structure without using float or positioning.</a:t>
            </a:r>
          </a:p>
          <a:p>
            <a:pPr algn="l"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91568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4157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E3DFA2-83DF-939D-2719-FA5A5391A9C8}"/>
              </a:ext>
            </a:extLst>
          </p:cNvPr>
          <p:cNvSpPr txBox="1"/>
          <p:nvPr/>
        </p:nvSpPr>
        <p:spPr>
          <a:xfrm>
            <a:off x="572091" y="499132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Display</a:t>
            </a:r>
            <a:endParaRPr lang="en-IN" sz="2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74059-ADAD-8F15-DD0A-B0D7D261EBBB}"/>
              </a:ext>
            </a:extLst>
          </p:cNvPr>
          <p:cNvSpPr txBox="1"/>
          <p:nvPr/>
        </p:nvSpPr>
        <p:spPr>
          <a:xfrm>
            <a:off x="514350" y="998431"/>
            <a:ext cx="82904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Display property is the most important CSS property for controlling layout.</a:t>
            </a:r>
          </a:p>
          <a:p>
            <a:r>
              <a:rPr lang="en-US" sz="1800" dirty="0"/>
              <a:t>The display property specifies if/how an element is displayed.</a:t>
            </a:r>
          </a:p>
          <a:p>
            <a:r>
              <a:rPr lang="en-US" sz="1800" dirty="0"/>
              <a:t>Every HTML element has a default display value depending on what type of element it is. The default display value for most elements is </a:t>
            </a:r>
            <a:r>
              <a:rPr lang="en-IN" sz="1800" dirty="0"/>
              <a:t>Block or inline</a:t>
            </a:r>
          </a:p>
        </p:txBody>
      </p:sp>
    </p:spTree>
    <p:extLst>
      <p:ext uri="{BB962C8B-B14F-4D97-AF65-F5344CB8AC3E}">
        <p14:creationId xmlns:p14="http://schemas.microsoft.com/office/powerpoint/2010/main" val="190841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453</Words>
  <Application>Microsoft Office PowerPoint</Application>
  <PresentationFormat>On-screen Show (16:9)</PresentationFormat>
  <Paragraphs>86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Montserrat</vt:lpstr>
      <vt:lpstr>Arial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110</cp:revision>
  <dcterms:modified xsi:type="dcterms:W3CDTF">2025-06-24T15:09:43Z</dcterms:modified>
</cp:coreProperties>
</file>